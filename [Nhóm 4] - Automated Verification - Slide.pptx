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3" r:id="rId2"/>
    <p:sldId id="257" r:id="rId3"/>
    <p:sldId id="258" r:id="rId4"/>
    <p:sldId id="267" r:id="rId5"/>
    <p:sldId id="266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C3300"/>
    <a:srgbClr val="552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CFFB0-22B7-4DDE-8AC7-54526424309E}" v="1" dt="2026-09-13T14:59:13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08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972" y="90"/>
      </p:cViewPr>
      <p:guideLst>
        <p:guide orient="horz" pos="2183"/>
        <p:guide pos="291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960B9-9AC4-462F-A0E5-AC58EA65DEA9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3605E-E69B-46D5-8803-0284DE2117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3605E-E69B-46D5-8803-0284DE2117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17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A3605E-E69B-46D5-8803-0284DE2117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553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7B3CA-79A1-01A3-8143-8A0EAE43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FDAA1243-8D65-295F-A6CF-87821727D59D}"/>
              </a:ext>
            </a:extLst>
          </p:cNvPr>
          <p:cNvGrpSpPr/>
          <p:nvPr/>
        </p:nvGrpSpPr>
        <p:grpSpPr>
          <a:xfrm>
            <a:off x="7398508" y="-795967"/>
            <a:ext cx="8034741" cy="7653967"/>
            <a:chOff x="7370118" y="-286681"/>
            <a:chExt cx="8034741" cy="7343071"/>
          </a:xfrm>
        </p:grpSpPr>
        <p:sp>
          <p:nvSpPr>
            <p:cNvPr id="28" name="Parallelogram 27">
              <a:extLst>
                <a:ext uri="{FF2B5EF4-FFF2-40B4-BE49-F238E27FC236}">
                  <a16:creationId xmlns:a16="http://schemas.microsoft.com/office/drawing/2014/main" id="{7AFF5955-46A1-0CAA-E0B0-6EB25436E4E5}"/>
                </a:ext>
              </a:extLst>
            </p:cNvPr>
            <p:cNvSpPr/>
            <p:nvPr/>
          </p:nvSpPr>
          <p:spPr>
            <a:xfrm>
              <a:off x="7370118" y="335550"/>
              <a:ext cx="8034741" cy="6720840"/>
            </a:xfrm>
            <a:prstGeom prst="parallelogram">
              <a:avLst>
                <a:gd name="adj" fmla="val 48285"/>
              </a:avLst>
            </a:prstGeom>
            <a:solidFill>
              <a:srgbClr val="1934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ight Triangle 31">
              <a:extLst>
                <a:ext uri="{FF2B5EF4-FFF2-40B4-BE49-F238E27FC236}">
                  <a16:creationId xmlns:a16="http://schemas.microsoft.com/office/drawing/2014/main" id="{6DE7FF55-BBF8-586E-99F1-B0A07CAD762B}"/>
                </a:ext>
              </a:extLst>
            </p:cNvPr>
            <p:cNvSpPr/>
            <p:nvPr/>
          </p:nvSpPr>
          <p:spPr>
            <a:xfrm rot="12379806">
              <a:off x="7760441" y="-286681"/>
              <a:ext cx="1316858" cy="6488487"/>
            </a:xfrm>
            <a:prstGeom prst="rtTriangle">
              <a:avLst/>
            </a:prstGeom>
            <a:solidFill>
              <a:srgbClr val="F1501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6E3FF202-2233-63C7-6AFD-21E968F8A362}"/>
              </a:ext>
            </a:extLst>
          </p:cNvPr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DAED2F-2681-642C-0477-532FA9DA7D18}"/>
              </a:ext>
            </a:extLst>
          </p:cNvPr>
          <p:cNvSpPr txBox="1"/>
          <p:nvPr/>
        </p:nvSpPr>
        <p:spPr>
          <a:xfrm>
            <a:off x="847116" y="1535038"/>
            <a:ext cx="106984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1F4E79"/>
                </a:solidFill>
              </a:defRPr>
            </a:pPr>
            <a:r>
              <a:rPr lang="en-US" sz="4500" b="1" dirty="0">
                <a:solidFill>
                  <a:srgbClr val="19345B"/>
                </a:solidFill>
              </a:rPr>
              <a:t>AUTOMATED VERIFICATION</a:t>
            </a:r>
            <a:endParaRPr sz="4500" b="1" dirty="0">
              <a:solidFill>
                <a:srgbClr val="19345B"/>
              </a:solidFill>
            </a:endParaRPr>
          </a:p>
          <a:p>
            <a:pPr>
              <a:defRPr sz="2200">
                <a:solidFill>
                  <a:srgbClr val="232323"/>
                </a:solidFill>
              </a:defRPr>
            </a:pPr>
            <a:r>
              <a:rPr sz="3600" b="1" dirty="0">
                <a:solidFill>
                  <a:srgbClr val="FF3300"/>
                </a:solidFill>
              </a:rPr>
              <a:t>Group </a:t>
            </a:r>
            <a:r>
              <a:rPr lang="en-US" sz="3600" b="1" dirty="0">
                <a:solidFill>
                  <a:srgbClr val="FF3300"/>
                </a:solidFill>
              </a:rPr>
              <a:t>4</a:t>
            </a:r>
            <a:endParaRPr sz="3600" b="1" dirty="0">
              <a:solidFill>
                <a:srgbClr val="FF33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F63B9-CDDE-FF52-29E7-07E21C45D4AD}"/>
              </a:ext>
            </a:extLst>
          </p:cNvPr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78E6B1-4A34-D932-6E03-FE2C692CF5B9}"/>
              </a:ext>
            </a:extLst>
          </p:cNvPr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5BA187-0805-FF5E-7B4B-4E77496CC3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4828" y="365840"/>
            <a:ext cx="3099609" cy="1010472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711466B8-886D-E1AE-B209-010DB28E37C4}"/>
              </a:ext>
            </a:extLst>
          </p:cNvPr>
          <p:cNvGrpSpPr/>
          <p:nvPr/>
        </p:nvGrpSpPr>
        <p:grpSpPr>
          <a:xfrm>
            <a:off x="666141" y="3132598"/>
            <a:ext cx="2928296" cy="523220"/>
            <a:chOff x="502920" y="2897157"/>
            <a:chExt cx="2928296" cy="5232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B0BF991-18FC-416E-866D-8D0F1E328E96}"/>
                </a:ext>
              </a:extLst>
            </p:cNvPr>
            <p:cNvSpPr txBox="1"/>
            <p:nvPr/>
          </p:nvSpPr>
          <p:spPr>
            <a:xfrm>
              <a:off x="864870" y="2897157"/>
              <a:ext cx="256634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800"/>
                </a:spcAft>
                <a:defRPr sz="1800">
                  <a:solidFill>
                    <a:srgbClr val="232323"/>
                  </a:solidFill>
                </a:defRPr>
              </a:pPr>
              <a:r>
                <a:rPr sz="2800" b="1" dirty="0">
                  <a:solidFill>
                    <a:srgbClr val="232A34"/>
                  </a:solidFill>
                </a:rPr>
                <a:t>Team members</a:t>
              </a:r>
              <a:r>
                <a:rPr lang="en-US" sz="2800" b="1" dirty="0">
                  <a:solidFill>
                    <a:srgbClr val="232A34"/>
                  </a:solidFill>
                </a:rPr>
                <a:t>:</a:t>
              </a:r>
              <a:endParaRPr sz="2800" b="1" dirty="0">
                <a:solidFill>
                  <a:srgbClr val="232A34"/>
                </a:solidFill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AD282B3-E50D-E537-128A-2A3FCAD8220E}"/>
                </a:ext>
              </a:extLst>
            </p:cNvPr>
            <p:cNvGrpSpPr/>
            <p:nvPr/>
          </p:nvGrpSpPr>
          <p:grpSpPr>
            <a:xfrm>
              <a:off x="502920" y="2975610"/>
              <a:ext cx="361950" cy="361950"/>
              <a:chOff x="502920" y="2975610"/>
              <a:chExt cx="361950" cy="361950"/>
            </a:xfrm>
          </p:grpSpPr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93C98BD3-44C6-3DEB-4EEF-4EDB06454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920" y="2975610"/>
                <a:ext cx="361950" cy="361950"/>
              </a:xfrm>
              <a:prstGeom prst="rect">
                <a:avLst/>
              </a:prstGeom>
            </p:spPr>
          </p:pic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302B4434-39E3-67A7-9094-E6EF2489A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8645" y="3080385"/>
                <a:ext cx="190500" cy="152400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8386F5C-B6BA-6904-E0FE-0148C175C605}"/>
              </a:ext>
            </a:extLst>
          </p:cNvPr>
          <p:cNvSpPr txBox="1"/>
          <p:nvPr/>
        </p:nvSpPr>
        <p:spPr>
          <a:xfrm>
            <a:off x="1297282" y="4761243"/>
            <a:ext cx="41088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32A34"/>
                </a:solidFill>
              </a:rPr>
              <a:t>Tran Minh Tuan 	 -  TALENT 56</a:t>
            </a:r>
            <a:endParaRPr lang="en-US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C39B29-62D0-A1E5-0908-CDFF424E4066}"/>
              </a:ext>
            </a:extLst>
          </p:cNvPr>
          <p:cNvSpPr txBox="1"/>
          <p:nvPr/>
        </p:nvSpPr>
        <p:spPr>
          <a:xfrm>
            <a:off x="1304270" y="3977698"/>
            <a:ext cx="4101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232A34"/>
                </a:solidFill>
              </a:rPr>
              <a:t>Nguyen Minh Duc  -  TALENT 12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B00225-81CB-B1CF-278A-651347A36AFC}"/>
              </a:ext>
            </a:extLst>
          </p:cNvPr>
          <p:cNvSpPr txBox="1"/>
          <p:nvPr/>
        </p:nvSpPr>
        <p:spPr>
          <a:xfrm>
            <a:off x="639506" y="5646836"/>
            <a:ext cx="4278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>
                <a:solidFill>
                  <a:schemeClr val="tx2">
                    <a:lumMod val="75000"/>
                  </a:schemeClr>
                </a:solidFill>
              </a:rPr>
              <a:t>Final Lab Presentation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6E97CE-336A-13C9-6584-11133808AF00}"/>
              </a:ext>
            </a:extLst>
          </p:cNvPr>
          <p:cNvSpPr/>
          <p:nvPr/>
        </p:nvSpPr>
        <p:spPr>
          <a:xfrm>
            <a:off x="0" y="0"/>
            <a:ext cx="201168" cy="6556248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EDC5CC-7443-6E21-F222-09925294528D}"/>
              </a:ext>
            </a:extLst>
          </p:cNvPr>
          <p:cNvSpPr txBox="1"/>
          <p:nvPr/>
        </p:nvSpPr>
        <p:spPr>
          <a:xfrm>
            <a:off x="95086" y="6583680"/>
            <a:ext cx="18473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9382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4810676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>
                <a:solidFill>
                  <a:schemeClr val="bg1"/>
                </a:solidFill>
              </a:rPr>
              <a:t>1. Objective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931141"/>
            <a:ext cx="5082511" cy="53889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232A34"/>
                </a:solidFill>
              </a:rPr>
              <a:t>• </a:t>
            </a:r>
            <a:r>
              <a:rPr sz="2000" b="1" dirty="0">
                <a:solidFill>
                  <a:srgbClr val="232A34"/>
                </a:solidFill>
              </a:rPr>
              <a:t>Project </a:t>
            </a:r>
            <a:r>
              <a:rPr lang="en-US" sz="2000" b="1" dirty="0">
                <a:solidFill>
                  <a:srgbClr val="232A34"/>
                </a:solidFill>
              </a:rPr>
              <a:t>O</a:t>
            </a:r>
            <a:r>
              <a:rPr sz="2000" b="1" dirty="0">
                <a:solidFill>
                  <a:srgbClr val="232A34"/>
                </a:solidFill>
              </a:rPr>
              <a:t>bjective</a:t>
            </a:r>
            <a:endParaRPr lang="en-US" sz="2000" b="1" dirty="0">
              <a:solidFill>
                <a:srgbClr val="232A34"/>
              </a:solidFill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lang="en-US" sz="1600" dirty="0">
                <a:solidFill>
                  <a:srgbClr val="232323"/>
                </a:solidFill>
              </a:rPr>
              <a:t>Create an automated flow that can run a regression suite on RV32I RISC-V Pipelined CPU.</a:t>
            </a:r>
            <a:endParaRPr lang="en-US" sz="1600" dirty="0">
              <a:solidFill>
                <a:srgbClr val="232A34"/>
              </a:solidFill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lang="en-US" sz="1600" dirty="0">
                <a:solidFill>
                  <a:srgbClr val="232323"/>
                </a:solidFill>
              </a:rPr>
              <a:t>Produce clear checkers, expected-vs-actual comparisons, and failure messages.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lang="en-US" sz="1600" dirty="0">
                <a:solidFill>
                  <a:srgbClr val="232323"/>
                </a:solidFill>
              </a:rPr>
              <a:t>Produce logs, regression summary, coverage, and performance metrics</a:t>
            </a:r>
            <a:r>
              <a:rPr sz="1600" dirty="0">
                <a:solidFill>
                  <a:srgbClr val="232A34"/>
                </a:solidFill>
              </a:rPr>
              <a:t>.</a:t>
            </a:r>
            <a:endParaRPr lang="en-US" sz="1600" dirty="0">
              <a:solidFill>
                <a:srgbClr val="232A34"/>
              </a:solidFill>
            </a:endParaRPr>
          </a:p>
          <a:p>
            <a:pPr>
              <a:lnSpc>
                <a:spcPct val="150000"/>
              </a:lnSpc>
              <a:spcAft>
                <a:spcPts val="800"/>
              </a:spcAft>
              <a:defRPr sz="1600">
                <a:solidFill>
                  <a:srgbClr val="232323"/>
                </a:solidFill>
              </a:defRPr>
            </a:pPr>
            <a:r>
              <a:rPr sz="2000" dirty="0">
                <a:solidFill>
                  <a:srgbClr val="232A34"/>
                </a:solidFill>
              </a:rPr>
              <a:t>• </a:t>
            </a:r>
            <a:r>
              <a:rPr sz="2000" b="1" dirty="0">
                <a:solidFill>
                  <a:srgbClr val="232A34"/>
                </a:solidFill>
              </a:rPr>
              <a:t>Scope</a:t>
            </a:r>
            <a:endParaRPr lang="en-US" sz="2000" b="1" dirty="0">
              <a:solidFill>
                <a:srgbClr val="232A34"/>
              </a:solidFill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lang="en-US" sz="1600" dirty="0">
                <a:solidFill>
                  <a:srgbClr val="232A34"/>
                </a:solidFill>
              </a:rPr>
              <a:t>RV32I RISC-V Pipelined CPU from previous lab manuals.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sz="1600" dirty="0">
                <a:solidFill>
                  <a:srgbClr val="232A34"/>
                </a:solidFill>
              </a:rPr>
              <a:t>IMEM</a:t>
            </a:r>
            <a:r>
              <a:rPr lang="en-US" sz="1600" dirty="0">
                <a:solidFill>
                  <a:srgbClr val="232A34"/>
                </a:solidFill>
              </a:rPr>
              <a:t> and </a:t>
            </a:r>
            <a:r>
              <a:rPr sz="1600" dirty="0">
                <a:solidFill>
                  <a:srgbClr val="232A34"/>
                </a:solidFill>
              </a:rPr>
              <a:t>DMEM</a:t>
            </a:r>
            <a:r>
              <a:rPr lang="en-US" sz="1600" dirty="0">
                <a:solidFill>
                  <a:srgbClr val="232A34"/>
                </a:solidFill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  <a:defRPr sz="1600">
                <a:solidFill>
                  <a:srgbClr val="232323"/>
                </a:solidFill>
              </a:defRPr>
            </a:pPr>
            <a:r>
              <a:rPr lang="en-US" sz="1600" dirty="0">
                <a:solidFill>
                  <a:srgbClr val="232A34"/>
                </a:solidFill>
              </a:rPr>
              <a:t>F</a:t>
            </a:r>
            <a:r>
              <a:rPr lang="en-US" sz="1600" dirty="0">
                <a:solidFill>
                  <a:srgbClr val="232323"/>
                </a:solidFill>
              </a:rPr>
              <a:t>unctional and microarchitectural verification for the RTL simulation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2</a:t>
            </a:r>
          </a:p>
        </p:txBody>
      </p:sp>
      <p:pic>
        <p:nvPicPr>
          <p:cNvPr id="9" name="Picture 8" descr="30938123-d4e2-495e-8224-b25e86cc95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0" y="91440"/>
            <a:ext cx="1325880" cy="4847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1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1D580F-DC4D-6538-51B6-BFFB7B66B760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  <a:endParaRPr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DE55E-65E4-7B59-E2DB-31EB01652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235" y="785456"/>
            <a:ext cx="4126165" cy="57225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6506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>
                <a:solidFill>
                  <a:schemeClr val="bg1"/>
                </a:solidFill>
              </a:rPr>
              <a:t>2.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212" y="827532"/>
            <a:ext cx="11055668" cy="5588151"/>
          </a:xfrm>
          <a:prstGeom prst="roundRect">
            <a:avLst/>
          </a:prstGeom>
          <a:solidFill>
            <a:srgbClr val="F2F5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022545" y="827532"/>
            <a:ext cx="13011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>
                <a:solidFill>
                  <a:srgbClr val="232A34"/>
                </a:solidFill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3</a:t>
            </a:r>
          </a:p>
        </p:txBody>
      </p:sp>
      <p:pic>
        <p:nvPicPr>
          <p:cNvPr id="13" name="Picture 12" descr="30938123-d4e2-495e-8224-b25e86cc9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91440"/>
            <a:ext cx="1325880" cy="4847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2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E0F4C5-8BE2-53DE-F17D-1E037F50BBF9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89C256-3E54-DC28-CAA2-A237CF88F8B0}"/>
              </a:ext>
            </a:extLst>
          </p:cNvPr>
          <p:cNvSpPr txBox="1"/>
          <p:nvPr/>
        </p:nvSpPr>
        <p:spPr>
          <a:xfrm>
            <a:off x="6256960" y="945898"/>
            <a:ext cx="5021409" cy="5493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DUT:</a:t>
            </a:r>
            <a:r>
              <a:rPr lang="en-US" dirty="0"/>
              <a:t> 5-stage pipelined RISC-V CPU.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clk and </a:t>
            </a:r>
            <a:r>
              <a:rPr lang="en-US" b="1" dirty="0" err="1"/>
              <a:t>rstn</a:t>
            </a:r>
            <a:r>
              <a:rPr lang="en-US" b="1" dirty="0"/>
              <a:t>:</a:t>
            </a:r>
            <a:r>
              <a:rPr lang="en-US" dirty="0"/>
              <a:t> System clock and asynchronous active-low reset signals.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Memory:</a:t>
            </a:r>
            <a:r>
              <a:rPr lang="en-US" dirty="0"/>
              <a:t> Load from generated hex files.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Pipeline:</a:t>
            </a:r>
            <a:r>
              <a:rPr lang="en-US" dirty="0"/>
              <a:t> Observes the connection between stages as registers.</a:t>
            </a:r>
          </a:p>
          <a:p>
            <a:pPr marL="342900" indent="-342900" algn="just" fontAlgn="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Hazard coverage:</a:t>
            </a:r>
            <a:r>
              <a:rPr lang="en-US" dirty="0"/>
              <a:t> Tracks stall/load and pipeline bubbles.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Completion checking:</a:t>
            </a:r>
            <a:r>
              <a:rPr lang="en-US" dirty="0"/>
              <a:t> Monitors </a:t>
            </a:r>
            <a:r>
              <a:rPr lang="en-US" dirty="0" err="1"/>
              <a:t>tohost</a:t>
            </a:r>
            <a:r>
              <a:rPr lang="en-US" dirty="0"/>
              <a:t> writes to determine test </a:t>
            </a:r>
            <a:r>
              <a:rPr lang="en-US" b="1" dirty="0"/>
              <a:t>PASS/FAIL</a:t>
            </a:r>
            <a:r>
              <a:rPr lang="en-US" dirty="0"/>
              <a:t>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Trace logging:</a:t>
            </a:r>
            <a:r>
              <a:rPr lang="en-US" dirty="0"/>
              <a:t> Records CPU execution activity in rtl_trace.log.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Scoreboard:</a:t>
            </a:r>
            <a:r>
              <a:rPr lang="en-US" dirty="0"/>
              <a:t> Tracks down performance metrics.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Waveform dumping:</a:t>
            </a:r>
            <a:r>
              <a:rPr lang="en-US" dirty="0"/>
              <a:t> Captures full-hierarchy signals in a VCD file for debugging.</a:t>
            </a:r>
          </a:p>
          <a:p>
            <a:pPr marL="342900" lvl="0" indent="-342900" algn="just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Timeout watchdog:</a:t>
            </a:r>
            <a:r>
              <a:rPr lang="en-US" dirty="0"/>
              <a:t> Automatically stops simulations that do not complete.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A8281-8CE0-2B99-AAB7-BC459BB4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91" y="1150871"/>
            <a:ext cx="5258569" cy="5083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14B83-1D22-3793-1F14-0A73F73E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F688CB-CCFC-5C7D-26D5-98C1974D25CD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2ED014-5F2B-DE0B-9915-C8CF9D5F6884}"/>
              </a:ext>
            </a:extLst>
          </p:cNvPr>
          <p:cNvSpPr txBox="1"/>
          <p:nvPr/>
        </p:nvSpPr>
        <p:spPr>
          <a:xfrm>
            <a:off x="502920" y="118872"/>
            <a:ext cx="26506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>
                <a:solidFill>
                  <a:schemeClr val="bg1"/>
                </a:solidFill>
              </a:rPr>
              <a:t>2. Implementation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EE1D93-FABE-6E4B-771C-06231154B31C}"/>
              </a:ext>
            </a:extLst>
          </p:cNvPr>
          <p:cNvSpPr/>
          <p:nvPr/>
        </p:nvSpPr>
        <p:spPr>
          <a:xfrm>
            <a:off x="502919" y="804672"/>
            <a:ext cx="11393805" cy="5577840"/>
          </a:xfrm>
          <a:prstGeom prst="roundRect">
            <a:avLst/>
          </a:prstGeom>
          <a:solidFill>
            <a:srgbClr val="F2F5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521408-DE7F-CC30-F3B7-1E6C40B04F50}"/>
              </a:ext>
            </a:extLst>
          </p:cNvPr>
          <p:cNvSpPr txBox="1"/>
          <p:nvPr/>
        </p:nvSpPr>
        <p:spPr>
          <a:xfrm>
            <a:off x="1592474" y="944166"/>
            <a:ext cx="26961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>
                <a:solidFill>
                  <a:srgbClr val="232A34"/>
                </a:solidFill>
              </a:rPr>
              <a:t>Software / 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3BBCC-E37A-4BE0-3848-26C2DF6E0BCE}"/>
              </a:ext>
            </a:extLst>
          </p:cNvPr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68BDCA-1B40-4273-5D5A-49B19D4D5ED8}"/>
              </a:ext>
            </a:extLst>
          </p:cNvPr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3</a:t>
            </a:r>
          </a:p>
        </p:txBody>
      </p:sp>
      <p:pic>
        <p:nvPicPr>
          <p:cNvPr id="13" name="Picture 12" descr="30938123-d4e2-495e-8224-b25e86cc9591.png">
            <a:extLst>
              <a:ext uri="{FF2B5EF4-FFF2-40B4-BE49-F238E27FC236}">
                <a16:creationId xmlns:a16="http://schemas.microsoft.com/office/drawing/2014/main" id="{B646CF45-3FE9-CC96-B9A7-AFA8343EB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91440"/>
            <a:ext cx="1325880" cy="4847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F2E354-325D-2C46-53ED-CC22EAD963AB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5FF8C7-5062-102C-C44C-B68BDBD068B2}"/>
              </a:ext>
            </a:extLst>
          </p:cNvPr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D29E3F-9F05-1E4B-25D2-83A43EA86D18}"/>
              </a:ext>
            </a:extLst>
          </p:cNvPr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4C5FC6-EFD2-A8D1-B68E-3DA21FC8CA77}"/>
              </a:ext>
            </a:extLst>
          </p:cNvPr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2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159DC-1B00-F162-36B2-CCEF3579703F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BB19DA03-A96B-FEC7-2AE2-1B3DC2BB6D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814"/>
          <a:stretch>
            <a:fillRect/>
          </a:stretch>
        </p:blipFill>
        <p:spPr bwMode="auto">
          <a:xfrm>
            <a:off x="585318" y="1359664"/>
            <a:ext cx="4454549" cy="481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1992C2-AAF3-0A2E-EA4B-567CF105B8C6}"/>
              </a:ext>
            </a:extLst>
          </p:cNvPr>
          <p:cNvSpPr txBox="1"/>
          <p:nvPr/>
        </p:nvSpPr>
        <p:spPr>
          <a:xfrm>
            <a:off x="5060396" y="1012172"/>
            <a:ext cx="669980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000" b="1" dirty="0"/>
              <a:t>Test Generation and Compilation Flow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Start the test</a:t>
            </a:r>
            <a:endParaRPr lang="en-US" sz="1600" dirty="0"/>
          </a:p>
          <a:p>
            <a:pPr lvl="1" algn="just" fontAlgn="t">
              <a:spcBef>
                <a:spcPts val="300"/>
              </a:spcBef>
              <a:spcAft>
                <a:spcPts val="300"/>
              </a:spcAft>
            </a:pPr>
            <a:r>
              <a:rPr lang="en-US" sz="1600" dirty="0"/>
              <a:t>Initialize the verification flow and select the test type.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Select test type</a:t>
            </a:r>
            <a:endParaRPr lang="en-US" sz="1600" dirty="0"/>
          </a:p>
          <a:p>
            <a:pPr marL="742950" lvl="1" indent="-285750" algn="just" fontAlgn="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Directed:</a:t>
            </a:r>
            <a:r>
              <a:rPr lang="en-US" sz="1600" dirty="0"/>
              <a:t> Use the directed test wrapper, isa_4b.S.</a:t>
            </a:r>
          </a:p>
          <a:p>
            <a:pPr marL="742950" lvl="1" indent="-285750" algn="just" fontAlgn="t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Random:</a:t>
            </a:r>
            <a:r>
              <a:rPr lang="en-US" sz="1600" dirty="0"/>
              <a:t> Generate constrained-random instructions using the UVM sequence, rv32_gen_seq.sv.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Build the test program</a:t>
            </a:r>
            <a:endParaRPr lang="en-US" sz="1600" dirty="0"/>
          </a:p>
          <a:p>
            <a:pPr marL="742950" lvl="1" indent="-28575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Add the </a:t>
            </a:r>
            <a:r>
              <a:rPr lang="en-US" sz="1600" b="1" dirty="0"/>
              <a:t>40 directed ISA tests</a:t>
            </a:r>
            <a:r>
              <a:rPr lang="en-US" sz="1600" dirty="0"/>
              <a:t> from isa_4b_core.S.</a:t>
            </a:r>
          </a:p>
          <a:p>
            <a:pPr marL="742950" lvl="1" indent="-28575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dirty="0"/>
              <a:t>Combine the wrapper or random sequence with the common test set.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Generate final assembly</a:t>
            </a:r>
            <a:endParaRPr lang="en-US" sz="1600" dirty="0"/>
          </a:p>
          <a:p>
            <a:pPr lvl="1" algn="just" fontAlgn="t">
              <a:spcBef>
                <a:spcPts val="300"/>
              </a:spcBef>
              <a:spcAft>
                <a:spcPts val="300"/>
              </a:spcAft>
            </a:pPr>
            <a:r>
              <a:rPr lang="en-US" sz="1600" dirty="0"/>
              <a:t>Produce the complete RISC-V assembly test file, .S.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Compile the test</a:t>
            </a:r>
            <a:endParaRPr lang="en-US" sz="1600" dirty="0"/>
          </a:p>
          <a:p>
            <a:pPr lvl="1" algn="just" fontAlgn="t">
              <a:spcBef>
                <a:spcPts val="300"/>
              </a:spcBef>
              <a:spcAft>
                <a:spcPts val="300"/>
              </a:spcAft>
            </a:pPr>
            <a:r>
              <a:rPr lang="en-US" sz="1600" dirty="0"/>
              <a:t>Use the RISC-V GCC compiler to translate the assembly program.</a:t>
            </a:r>
          </a:p>
          <a:p>
            <a:pPr marL="342900" lvl="0" indent="-342900" algn="just" fontAlgn="t"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600" b="1" dirty="0"/>
              <a:t>Generate machine code</a:t>
            </a:r>
            <a:endParaRPr lang="en-US" sz="1600" dirty="0"/>
          </a:p>
          <a:p>
            <a:pPr lvl="1" algn="just" fontAlgn="t">
              <a:spcBef>
                <a:spcPts val="300"/>
              </a:spcBef>
              <a:spcAft>
                <a:spcPts val="300"/>
              </a:spcAft>
            </a:pPr>
            <a:r>
              <a:rPr lang="en-US" sz="1600" dirty="0"/>
              <a:t>Output the executable test image in </a:t>
            </a:r>
            <a:r>
              <a:rPr lang="en-US" sz="1600" b="1" dirty="0"/>
              <a:t>HEX/ELF format</a:t>
            </a:r>
            <a:r>
              <a:rPr lang="en-US" sz="1600" dirty="0"/>
              <a:t> for RTL simulation.</a:t>
            </a:r>
          </a:p>
        </p:txBody>
      </p:sp>
    </p:spTree>
    <p:extLst>
      <p:ext uri="{BB962C8B-B14F-4D97-AF65-F5344CB8AC3E}">
        <p14:creationId xmlns:p14="http://schemas.microsoft.com/office/powerpoint/2010/main" val="361548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27EF-06FE-DFE3-2B4B-0EFB79DE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69FF9A-A25B-F6ED-9C2B-FC2AE5479E9C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63610E-762C-2695-BAB7-7A658382C055}"/>
              </a:ext>
            </a:extLst>
          </p:cNvPr>
          <p:cNvSpPr txBox="1"/>
          <p:nvPr/>
        </p:nvSpPr>
        <p:spPr>
          <a:xfrm>
            <a:off x="502920" y="118872"/>
            <a:ext cx="2650662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>
                <a:solidFill>
                  <a:schemeClr val="bg1"/>
                </a:solidFill>
              </a:rPr>
              <a:t>2. Implementation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8FE81A5-33F6-2BE9-C851-26C45BCDEA0A}"/>
              </a:ext>
            </a:extLst>
          </p:cNvPr>
          <p:cNvSpPr/>
          <p:nvPr/>
        </p:nvSpPr>
        <p:spPr>
          <a:xfrm>
            <a:off x="502919" y="804671"/>
            <a:ext cx="11393805" cy="5690747"/>
          </a:xfrm>
          <a:prstGeom prst="roundRect">
            <a:avLst/>
          </a:prstGeom>
          <a:solidFill>
            <a:srgbClr val="F2F5F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4B193E-FED0-50B0-0141-28CD6CE59F86}"/>
              </a:ext>
            </a:extLst>
          </p:cNvPr>
          <p:cNvSpPr txBox="1"/>
          <p:nvPr/>
        </p:nvSpPr>
        <p:spPr>
          <a:xfrm>
            <a:off x="1497604" y="823686"/>
            <a:ext cx="26961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>
                <a:solidFill>
                  <a:srgbClr val="232A34"/>
                </a:solidFill>
              </a:rPr>
              <a:t>Software / Integration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425AD0-F40E-DE7F-AE14-FCDD6E343652}"/>
              </a:ext>
            </a:extLst>
          </p:cNvPr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8B83D-26C8-2DA1-E126-D73AE952446F}"/>
              </a:ext>
            </a:extLst>
          </p:cNvPr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3</a:t>
            </a:r>
          </a:p>
        </p:txBody>
      </p:sp>
      <p:pic>
        <p:nvPicPr>
          <p:cNvPr id="13" name="Picture 12" descr="30938123-d4e2-495e-8224-b25e86cc9591.png">
            <a:extLst>
              <a:ext uri="{FF2B5EF4-FFF2-40B4-BE49-F238E27FC236}">
                <a16:creationId xmlns:a16="http://schemas.microsoft.com/office/drawing/2014/main" id="{4C775030-4B75-9D13-3A75-670D3C30B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91440"/>
            <a:ext cx="1325880" cy="48474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0AC8AF3-F3CB-3CEF-5D5E-31EE0F481BAD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5A453A-EE14-37FE-47D3-4595C2469A5F}"/>
              </a:ext>
            </a:extLst>
          </p:cNvPr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9240BE-CE48-1985-BD79-2E6DCE589383}"/>
              </a:ext>
            </a:extLst>
          </p:cNvPr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6832EB-AE44-73C2-D3F9-4DC2A3798956}"/>
              </a:ext>
            </a:extLst>
          </p:cNvPr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2</a:t>
            </a: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917BA2-E341-F868-76D0-CD9CF10722CF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1DBD49-5371-86DA-30E9-9CD757F01A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72"/>
          <a:stretch>
            <a:fillRect/>
          </a:stretch>
        </p:blipFill>
        <p:spPr bwMode="auto">
          <a:xfrm>
            <a:off x="595967" y="1255506"/>
            <a:ext cx="4286121" cy="518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8247B8-0495-AF44-5599-C7C2328F7FBC}"/>
              </a:ext>
            </a:extLst>
          </p:cNvPr>
          <p:cNvSpPr txBox="1"/>
          <p:nvPr/>
        </p:nvSpPr>
        <p:spPr>
          <a:xfrm>
            <a:off x="4776552" y="825330"/>
            <a:ext cx="690948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b="1" dirty="0"/>
              <a:t>Parallel Execution and Verification Flow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Start parallel execution</a:t>
            </a:r>
            <a:endParaRPr lang="en-US" sz="1400" dirty="0"/>
          </a:p>
          <a:p>
            <a:pPr marL="346075" lvl="1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/>
              <a:t>Run the golden reference and RTL hardware simulations using the same machine code.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Run the golden model</a:t>
            </a:r>
            <a:endParaRPr lang="en-US" sz="1400" dirty="0"/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dirty="0"/>
              <a:t>Execute the test program on </a:t>
            </a:r>
            <a:r>
              <a:rPr lang="en-US" sz="1400" b="1" dirty="0"/>
              <a:t>Spike ISS</a:t>
            </a:r>
            <a:r>
              <a:rPr lang="en-US" sz="1400" dirty="0"/>
              <a:t>.</a:t>
            </a:r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dirty="0"/>
              <a:t>Save the reference execution trace to spike.log.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Run the RTL simulation</a:t>
            </a:r>
            <a:endParaRPr lang="en-US" sz="1400" dirty="0"/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dirty="0"/>
              <a:t>Launch the </a:t>
            </a:r>
            <a:r>
              <a:rPr lang="en-US" sz="1400" b="1" dirty="0" err="1"/>
              <a:t>Verilator</a:t>
            </a:r>
            <a:r>
              <a:rPr lang="en-US" sz="1400" b="1" dirty="0"/>
              <a:t> testbench</a:t>
            </a:r>
            <a:r>
              <a:rPr lang="en-US" sz="1400" dirty="0"/>
              <a:t> using tbench.sv.</a:t>
            </a:r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dirty="0"/>
              <a:t>Simulate the pipelined CPU in </a:t>
            </a:r>
            <a:r>
              <a:rPr lang="en-US" sz="1400" dirty="0" err="1"/>
              <a:t>RISCV_pipeline.v</a:t>
            </a:r>
            <a:r>
              <a:rPr lang="en-US" sz="1400" dirty="0"/>
              <a:t>.</a:t>
            </a:r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1400" dirty="0"/>
              <a:t>Save the RTL execution trace to rtl_trace.log.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Compare execution traces</a:t>
            </a:r>
            <a:endParaRPr lang="en-US" sz="1400" dirty="0"/>
          </a:p>
          <a:p>
            <a:pPr marL="346075" lvl="1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/>
              <a:t>Use the Python verifier, iss_cmp.py, to compare spike.log and rtl_trace.log instruction by instruction.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Check verification result</a:t>
            </a:r>
            <a:endParaRPr lang="en-US" sz="1400" dirty="0"/>
          </a:p>
          <a:p>
            <a:pPr marL="346075" lvl="1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400" dirty="0"/>
              <a:t>Verify that register updates, program counters, instructions, and relevant architectural states match.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 startAt="7"/>
            </a:pPr>
            <a:r>
              <a:rPr lang="en-US" sz="1400" b="1" dirty="0"/>
              <a:t>Report PASS or FAIL</a:t>
            </a:r>
            <a:endParaRPr lang="en-US" sz="1400" dirty="0"/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PASS:</a:t>
            </a:r>
            <a:r>
              <a:rPr lang="en-US" sz="1400" dirty="0"/>
              <a:t> All trace entries match with zero differences.</a:t>
            </a:r>
          </a:p>
          <a:p>
            <a:pPr marL="630238" lvl="1" indent="-28575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FAIL:</a:t>
            </a:r>
            <a:r>
              <a:rPr lang="en-US" sz="1400" dirty="0"/>
              <a:t> Any trace mismatch, missing instruction, unexpected state, or incomplete simulation.</a:t>
            </a:r>
          </a:p>
        </p:txBody>
      </p:sp>
    </p:spTree>
    <p:extLst>
      <p:ext uri="{BB962C8B-B14F-4D97-AF65-F5344CB8AC3E}">
        <p14:creationId xmlns:p14="http://schemas.microsoft.com/office/powerpoint/2010/main" val="2883448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2683363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>
                <a:solidFill>
                  <a:schemeClr val="bg1"/>
                </a:solidFill>
              </a:rPr>
              <a:t>3. Verification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78158"/>
              </p:ext>
            </p:extLst>
          </p:nvPr>
        </p:nvGraphicFramePr>
        <p:xfrm>
          <a:off x="690372" y="834135"/>
          <a:ext cx="11105388" cy="3981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2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91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Test / Scenario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Stimulus / 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Expected Result / Reference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PASS/FAIL </a:t>
                      </a:r>
                      <a:r>
                        <a:rPr dirty="0"/>
                        <a:t>Evidence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5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[TC1] Basic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Directed assembly tests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Compile with RISC-V GCC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Run using </a:t>
                      </a:r>
                      <a:r>
                        <a:rPr lang="en-US" sz="1200" b="1" i="0" dirty="0">
                          <a:effectLst/>
                          <a:latin typeface="Courier New" panose="02070309020205020404" pitchFamily="49" charset="0"/>
                        </a:rPr>
                        <a:t>make run_isa4b</a:t>
                      </a:r>
                      <a:endParaRPr lang="en-US" sz="1200" b="1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Self-checking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test program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Correct ISA execution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PASS: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200" b="0" i="0" dirty="0" err="1">
                          <a:effectLst/>
                          <a:latin typeface="Courier New" panose="02070309020205020404" pitchFamily="49" charset="0"/>
                        </a:rPr>
                        <a:t>tohost</a:t>
                      </a:r>
                      <a:r>
                        <a:rPr lang="en-US" sz="1200" b="0" i="0" dirty="0">
                          <a:effectLst/>
                          <a:latin typeface="Courier New" panose="02070309020205020404" pitchFamily="49" charset="0"/>
                        </a:rPr>
                        <a:t> = 1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FAIL: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200" b="0" i="0" dirty="0" err="1">
                          <a:effectLst/>
                          <a:latin typeface="Courier New" panose="02070309020205020404" pitchFamily="49" charset="0"/>
                        </a:rPr>
                        <a:t>tohost</a:t>
                      </a:r>
                      <a:r>
                        <a:rPr lang="en-US" sz="1200" b="0" i="0" dirty="0">
                          <a:effectLst/>
                          <a:latin typeface="Courier New" panose="02070309020205020404" pitchFamily="49" charset="0"/>
                        </a:rPr>
                        <a:t> = 0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or mismatch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Evidence: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Simulation log and scoreboard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659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[TC2] Corner case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Constrained-random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directed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tests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Test alignment, limits, and edge values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RTL matches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Golden Model (Spike ISS)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Edge-value coverage bins are hit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PASS: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Zero trace mismatches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FAIL: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Any RTL/Spike mismatch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Evidence: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200" b="0" i="0" dirty="0">
                          <a:effectLst/>
                          <a:latin typeface="Courier New" panose="02070309020205020404" pitchFamily="49" charset="0"/>
                        </a:rPr>
                        <a:t>iss_cmp.py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and functional coverage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26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rPr sz="1400"/>
                        <a:t>[TC3] Stress / random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Random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valid instruction sequences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Multiple seeds and long regressions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Run using </a:t>
                      </a:r>
                      <a:r>
                        <a:rPr lang="en-US" sz="1200" b="1" i="0" dirty="0">
                          <a:effectLst/>
                          <a:latin typeface="Courier New" panose="02070309020205020404" pitchFamily="49" charset="0"/>
                        </a:rPr>
                        <a:t>make </a:t>
                      </a:r>
                      <a:r>
                        <a:rPr lang="en-US" sz="1200" b="1" i="0" dirty="0" err="1">
                          <a:effectLst/>
                          <a:latin typeface="Courier New" panose="02070309020205020404" pitchFamily="49" charset="0"/>
                        </a:rPr>
                        <a:t>run_random</a:t>
                      </a:r>
                      <a:endParaRPr lang="en-US" sz="1200" b="1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Instruction-by-instruction match with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Golden Model (Spike ISS)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Program terminates normally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PASS: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100% trace match and normal completion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FAIL: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Mismatch, illegal state, or unexpected stop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Evidence: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Regression log and coverage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517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32323"/>
                          </a:solidFill>
                        </a:defRPr>
                      </a:pPr>
                      <a:r>
                        <a:rPr sz="1400" dirty="0"/>
                        <a:t>[TC4] Protocol / hazard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Inject data and control dependencies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Exercise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forwarding, stalls, jumps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, and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branches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Correct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forwarding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and pipeline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stall/flush 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behavior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RTL matches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Golden Model (Spike ISS)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19048"/>
                        </a:lnSpc>
                        <a:buNone/>
                      </a:pP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PASS: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Zero mismatches and hazard coverage hit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FAIL: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Wrong result, missing stall/flush, or mismatch</a:t>
                      </a:r>
                      <a:b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• </a:t>
                      </a:r>
                      <a:r>
                        <a:rPr lang="en-US" sz="1200" b="1" i="0" dirty="0">
                          <a:effectLst/>
                          <a:latin typeface="Segoe UI" panose="020B0502040204020203" pitchFamily="34" charset="0"/>
                        </a:rPr>
                        <a:t>Evidence:</a:t>
                      </a:r>
                      <a:r>
                        <a:rPr lang="en-US" sz="1200" b="0" i="0" dirty="0">
                          <a:effectLst/>
                          <a:latin typeface="Segoe UI" panose="020B0502040204020203" pitchFamily="34" charset="0"/>
                        </a:rPr>
                        <a:t> Trace comparison, waveform, and coverage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90372" y="4862832"/>
            <a:ext cx="10789920" cy="14773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400" b="1" dirty="0"/>
              <a:t>Global Timeout / Deadlock Criteria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Timeout FAIL:</a:t>
            </a:r>
            <a:r>
              <a:rPr lang="en-US" sz="1400" dirty="0"/>
              <a:t> Simulation exceeds the configured MAX_CYCLES without a valid </a:t>
            </a:r>
            <a:r>
              <a:rPr lang="en-US" sz="1400" dirty="0" err="1"/>
              <a:t>tohost</a:t>
            </a:r>
            <a:r>
              <a:rPr lang="en-US" sz="1400" dirty="0"/>
              <a:t> completion.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Deadlock FAIL:</a:t>
            </a:r>
            <a:r>
              <a:rPr lang="en-US" sz="1400" dirty="0"/>
              <a:t> No instruction retirement or program-counter progress for DEADLOCK_CYCLES.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Immediate FAIL:</a:t>
            </a:r>
            <a:r>
              <a:rPr lang="en-US" sz="1400" dirty="0"/>
              <a:t> Trace mismatch, assertion failure, illegal state, or </a:t>
            </a:r>
            <a:r>
              <a:rPr lang="en-US" sz="1400" dirty="0" err="1"/>
              <a:t>tohost</a:t>
            </a:r>
            <a:r>
              <a:rPr lang="en-US" sz="1400" dirty="0"/>
              <a:t> = 0.</a:t>
            </a:r>
          </a:p>
          <a:p>
            <a:pPr marL="342900" lvl="0" indent="-342900" fontAlgn="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Final PASS:</a:t>
            </a:r>
            <a:r>
              <a:rPr lang="en-US" sz="1400" dirty="0"/>
              <a:t> </a:t>
            </a:r>
            <a:r>
              <a:rPr lang="en-US" sz="1400" dirty="0" err="1"/>
              <a:t>tohost</a:t>
            </a:r>
            <a:r>
              <a:rPr lang="en-US" sz="1400" dirty="0"/>
              <a:t> = 1, zero mismatches, no assertion failures, and completion before timeout.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4</a:t>
            </a:r>
          </a:p>
        </p:txBody>
      </p:sp>
      <p:pic>
        <p:nvPicPr>
          <p:cNvPr id="9" name="Picture 8" descr="30938123-d4e2-495e-8224-b25e86cc9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91440"/>
            <a:ext cx="1325880" cy="4847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3</a:t>
            </a: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2C90F1-03B1-B4BE-11A5-B8FA06392317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452367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b="1" dirty="0">
                <a:solidFill>
                  <a:schemeClr val="bg1"/>
                </a:solidFill>
              </a:rPr>
              <a:t>4. Results, Analysis &amp;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47104"/>
            <a:ext cx="10698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FINAL LAB — RV32I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967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</a:defRPr>
            </a:pPr>
            <a:r>
              <a:rPr>
                <a:solidFill>
                  <a:srgbClr val="232A34"/>
                </a:solidFill>
              </a:rPr>
              <a:t>5</a:t>
            </a:r>
          </a:p>
        </p:txBody>
      </p:sp>
      <p:pic>
        <p:nvPicPr>
          <p:cNvPr id="10" name="Picture 9" descr="30938123-d4e2-495e-8224-b25e86cc95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91440"/>
            <a:ext cx="1325880" cy="4847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556248"/>
            <a:ext cx="12191695" cy="301752"/>
          </a:xfrm>
          <a:prstGeom prst="rect">
            <a:avLst/>
          </a:prstGeom>
          <a:solidFill>
            <a:srgbClr val="193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6556248"/>
            <a:ext cx="384048" cy="301752"/>
          </a:xfrm>
          <a:prstGeom prst="rect">
            <a:avLst/>
          </a:prstGeom>
          <a:solidFill>
            <a:srgbClr val="F1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64" y="6583680"/>
            <a:ext cx="24237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/>
              <a:t>4</a:t>
            </a: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0DA234-25DF-97BB-D637-2B3C53CA276F}"/>
              </a:ext>
            </a:extLst>
          </p:cNvPr>
          <p:cNvSpPr txBox="1"/>
          <p:nvPr/>
        </p:nvSpPr>
        <p:spPr>
          <a:xfrm>
            <a:off x="630936" y="6543699"/>
            <a:ext cx="115507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US" sz="1600" b="1" dirty="0"/>
              <a:t>FINAL LAB – Automated Verification – Group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5A5E4-7185-8022-078F-5BF993CEB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644" y="3169788"/>
            <a:ext cx="6587961" cy="3212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F29AB85-5E98-E428-332F-5050DC6705EE}"/>
              </a:ext>
            </a:extLst>
          </p:cNvPr>
          <p:cNvSpPr txBox="1"/>
          <p:nvPr/>
        </p:nvSpPr>
        <p:spPr>
          <a:xfrm>
            <a:off x="2097630" y="679249"/>
            <a:ext cx="135546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lang="en-US" dirty="0">
                <a:solidFill>
                  <a:srgbClr val="232A34"/>
                </a:solidFill>
              </a:rPr>
              <a:t>PASS Test</a:t>
            </a:r>
            <a:endParaRPr dirty="0">
              <a:solidFill>
                <a:srgbClr val="232A34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A20D6E-9BBE-AB04-D0B8-66797B0ADE80}"/>
              </a:ext>
            </a:extLst>
          </p:cNvPr>
          <p:cNvSpPr txBox="1"/>
          <p:nvPr/>
        </p:nvSpPr>
        <p:spPr>
          <a:xfrm>
            <a:off x="5174425" y="2639950"/>
            <a:ext cx="135546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lang="en-US" dirty="0">
                <a:solidFill>
                  <a:srgbClr val="232A34"/>
                </a:solidFill>
              </a:rPr>
              <a:t>FAIL Test</a:t>
            </a:r>
            <a:endParaRPr dirty="0">
              <a:solidFill>
                <a:srgbClr val="232A34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9892E4-CFEA-96BA-C1D9-DE781A406E21}"/>
              </a:ext>
            </a:extLst>
          </p:cNvPr>
          <p:cNvSpPr txBox="1"/>
          <p:nvPr/>
        </p:nvSpPr>
        <p:spPr>
          <a:xfrm>
            <a:off x="5174425" y="725781"/>
            <a:ext cx="3864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lang="en-US" dirty="0">
                <a:solidFill>
                  <a:srgbClr val="232A34"/>
                </a:solidFill>
              </a:rPr>
              <a:t>Performance Metrics</a:t>
            </a:r>
            <a:endParaRPr dirty="0">
              <a:solidFill>
                <a:srgbClr val="232A34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2B27A4-662F-A993-1BEC-2CD9C6916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315" y="1080728"/>
            <a:ext cx="3334456" cy="54018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0A9F184-3482-3F89-C017-ED6C20CD1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9646" y="1124765"/>
            <a:ext cx="3819580" cy="16101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974</Words>
  <Application>Microsoft Office PowerPoint</Application>
  <PresentationFormat>Widescreen</PresentationFormat>
  <Paragraphs>120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Segoe UI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Minh Tuấn Trần</cp:lastModifiedBy>
  <cp:revision>14</cp:revision>
  <dcterms:created xsi:type="dcterms:W3CDTF">2013-01-27T09:14:16Z</dcterms:created>
  <dcterms:modified xsi:type="dcterms:W3CDTF">2026-09-13T16:49:59Z</dcterms:modified>
  <cp:category/>
</cp:coreProperties>
</file>